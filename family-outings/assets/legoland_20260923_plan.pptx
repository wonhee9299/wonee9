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548640"/>
            <a:ext cx="502920" cy="502920"/>
          </a:xfrm>
          <a:prstGeom prst="ellipse">
            <a:avLst/>
          </a:prstGeom>
          <a:solidFill>
            <a:srgbClr val="D62839"/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548640"/>
            <a:ext cx="502920" cy="50292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1188720"/>
            <a:ext cx="502920" cy="50292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5" name="Shape 3"/>
          <p:cNvSpPr/>
          <p:nvPr/>
        </p:nvSpPr>
        <p:spPr>
          <a:xfrm>
            <a:off x="11064240" y="1188720"/>
            <a:ext cx="502920" cy="502920"/>
          </a:xfrm>
          <a:prstGeom prst="ellipse">
            <a:avLst/>
          </a:prstGeom>
          <a:solidFill>
            <a:srgbClr val="D6283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레고랜드 코리아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260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72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드래곤 코스터 중심 · 문 앞 → 문 앞 최종 일정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703320"/>
            <a:ext cx="1860804" cy="457200"/>
          </a:xfrm>
          <a:prstGeom prst="roundRect">
            <a:avLst>
              <a:gd name="adj" fmla="val 20000"/>
            </a:avLst>
          </a:prstGeom>
          <a:solidFill>
            <a:srgbClr val="26315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703320"/>
            <a:ext cx="1860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2026-09-23(수)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66644" y="3703320"/>
            <a:ext cx="1243584" cy="457200"/>
          </a:xfrm>
          <a:prstGeom prst="roundRect">
            <a:avLst>
              <a:gd name="adj" fmla="val 20000"/>
            </a:avLst>
          </a:prstGeom>
          <a:solidFill>
            <a:srgbClr val="26315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866644" y="370332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미사 출발·복귀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3108" y="3703320"/>
            <a:ext cx="1490472" cy="457200"/>
          </a:xfrm>
          <a:prstGeom prst="roundRect">
            <a:avLst>
              <a:gd name="adj" fmla="val 20000"/>
            </a:avLst>
          </a:prstGeom>
          <a:solidFill>
            <a:srgbClr val="26315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93108" y="3703320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아빠+8세+3세후반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66460" y="3703320"/>
            <a:ext cx="873252" cy="457200"/>
          </a:xfrm>
          <a:prstGeom prst="roundRect">
            <a:avLst>
              <a:gd name="adj" fmla="val 20000"/>
            </a:avLst>
          </a:prstGeom>
          <a:solidFill>
            <a:srgbClr val="26315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66460" y="3703320"/>
            <a:ext cx="8732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웨건 지참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EB6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도보(PINK) 실측 반영 · 드래곤 100~120cm 재확인 · 영화 상영시간 재검증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83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상황 — 공연 없이 드래곤에 집중하는 이유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5F6F8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27632"/>
            <a:ext cx="502920" cy="502920"/>
          </a:xfrm>
          <a:prstGeom prst="ellipse">
            <a:avLst/>
          </a:prstGeom>
          <a:solidFill>
            <a:srgbClr val="D6283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240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공연 없음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06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574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V.I.M 몬스터파티는 화·수 제외 운영 — 수요일인 내일은 안 열림. 대신 Palace 4D Cinema(영화)가 오늘의 유일한 공연성 콘텐츠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51960" y="13716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5F6F8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1627632"/>
            <a:ext cx="502920" cy="502920"/>
          </a:xfrm>
          <a:prstGeom prst="ellipse">
            <a:avLst/>
          </a:prstGeom>
          <a:solidFill>
            <a:srgbClr val="0B6E6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6280" y="2240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날씨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606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574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최고 24~29℃ · 최저 12~20℃, 대체로 맑음. 일교차 커서 겉옷 필요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3716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5F6F8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21040" y="1627632"/>
            <a:ext cx="502920" cy="502920"/>
          </a:xfrm>
          <a:prstGeom prst="ellipse">
            <a:avLst/>
          </a:prstGeom>
          <a:solidFill>
            <a:srgbClr val="1A244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21040" y="2240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드래곤 = 최고 인기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606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574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파크 유일 스릴라이드이자 최고 인기 — “사람 적을 것” 낙관 금지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11247120" cy="2240280"/>
          </a:xfrm>
          <a:prstGeom prst="roundRect">
            <a:avLst>
              <a:gd name="adj" fmla="val 3265"/>
            </a:avLst>
          </a:prstGeom>
          <a:solidFill>
            <a:srgbClr val="FBF3F0"/>
          </a:solidFill>
          <a:ln w="12700">
            <a:solidFill>
              <a:srgbClr val="F0D9D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0965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283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결론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480560"/>
            <a:ext cx="10607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내일은 시즌 이벤트가 거의 없는 날입니다. 시간표에 맞출 공연이 없으니, 하루를 “드래곤 코스터를 몇 번 타느냐” 하나에 맞춰 설계했습니다. 개장 직후(55분)와 폐장 전(65분), 두 번 몰아서 집중 탑승하고, 그 사이에 스탬프 6곳 · 어트랙션 9종 · 영화 1편(오늘의 실질적 공연) · 점심을 끼워 넣는 구조입니다.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74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레고랜드 코리아 · 2026-09-23(수) · 아빠+첫째(8세·130cm)+둘째(3세후반·101cm)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74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83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SCHEDULE 1/3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미사 출발 → 미사 복귀 전체 일정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11247120" cy="438912"/>
          </a:xfrm>
          <a:prstGeom prst="roundRect">
            <a:avLst>
              <a:gd name="adj" fmla="val 12500"/>
            </a:avLst>
          </a:prstGeom>
          <a:solidFill>
            <a:srgbClr val="EFF3FB"/>
          </a:solidFill>
          <a:ln w="12700">
            <a:solidFill>
              <a:srgbClr val="D8E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20700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4A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동선 검증: 캐슬(드래곤)↔시티는 파크 반대편 — 왕복 1회로 압축. 이동 구간은 별도 줄로 표기, 시간은 추정치(맵이 스케일 보증 안 함, D등급)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00784"/>
          <a:ext cx="11247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795528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시각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구간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내용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4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07:55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미사 출발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웨건 · 도시락(밥+스팸) · 여벌옷 적재 후 출발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09:05~09:15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이동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약 69분(무정체 기준) + 여유 — 하중도 주차장 도착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09:15~09:25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주차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PINK 구역 우선 요청(도보 최단), 화장실 미리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62839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09:25~09:35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도보 이동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PINK → 입구, 실측 약 450~500m · 8~10분 (기존 “5분” 통설보다 김)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09:35~10:00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입구 대기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개장 대기, 짐 정리, 몬스터 랠리 전단 수령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10:00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개장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입장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10:00~10:05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이동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입구→캐슬, 브릭스트릿·브릭토피아 무정차 통과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62839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10:05~11:00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★★★ 드래곤 1차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몰아타기 55분 — 내려서 바로 재입장 반복. 스탬프① 자동 완료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11:00~11:15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캐슬존 잔여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Merlin's Flying Machines (90~120cm 동반)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11:15~11:20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이동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캐슬→NINJAGO World (인접 구역)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537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74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레고랜드 코리아 · 2026-09-23(수) · 아빠+첫째(8세·130cm)+둘째(3세후반·101cm)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74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83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SCHEDULE 2/3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미사 출발 → 미사 복귀 전체 일정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795528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시각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구간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내용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4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11:20~12:00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NINJAGO World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Masters of Spinjitzu + LEGO NINJAGO The Ride — 스탬프②③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62839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12:00~12:15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이동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NINJAGO→미니랜드→해적의 바다→시티 (통과만, 라이드 없음)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12:15~12:55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점심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밥+스팸 도시락, LEGO City 존 내 벤치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12:55~13:15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Wave Racers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젖음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13:15~13:35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Coast Guard Academy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Wave Racers보다 덜 젖음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13:35~13:55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환복·휴식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물놀이 옷 갈아입기 (시티 화장실)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13:55~14:25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자유시간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City 존 내 — 영화 오픈(14:30) 전 대기, 기념품·간식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62839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14:25~14:40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Palace 4D Cinema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14:30 쇼타임 — 앱 실측 운영시간 오후 2:30~5:00, 30분 간격. 다음 슬라이드 참고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62839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14:40~14:55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이동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시티→해적의 바다→미니랜드→NINJAGO→캐슬 (귀환)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62839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14:55~16:00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★★★ 드래곤 2차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몰아타기 65분 — 폐장 전 두 번째로 비는 시간대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537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74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레고랜드 코리아 · 2026-09-23(수) · 아빠+첫째(8세·130cm)+둘째(3세후반·101cm)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74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83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SCHEDULE 3/3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미사 출발 → 미사 복귀 전체 일정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795528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시각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구간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내용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4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16:00~16:05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이동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캐슬→브릭토피아 (인접 구역)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16:05~16:20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Bricktopia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LEGOLAND Lookout(스탬프④) + 브릭토피아 라운지(스탬프⑤) — Monkey Climb는 시간상 생략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16:20~16:25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이동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브릭토피아→브릭스트릿 (인접 구역)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16:25~16:50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Brick Street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LEGO Factory Adventure Ride — 스탬프⑥ 완성! 리워드(배지+젤리) 수령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16:50~16:55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이동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브릭스트릿→출구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62839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16:55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퇴장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폐장(17:00) 5분 전 — 영화 넣느라 뒤가 빡빡함, 늦어지면 Bricktopia 생략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16:55~17:05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도보 이동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입구 → PINK, 8~10분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17:05~17:20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출차 준비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사전 정산, 웨건 정리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17:20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주차장 출발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62839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18:25~18:35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미사 도착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왕복 이동 약 2시간 38분(주행 69분×2 + 도보 20분)</a:t>
                      </a:r>
                      <a:endParaRPr lang="en-US" sz="11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537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74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레고랜드 코리아 · 2026-09-23(수) · 아빠+첫째(8세·130cm)+둘째(3세후반·101cm)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74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83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ROUTE 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동선 지도 — 공식 파크맵에 표시</a:t>
            </a:r>
            <a:endParaRPr lang="en-US" sz="2600" dirty="0"/>
          </a:p>
        </p:txBody>
      </p:sp>
      <p:pic>
        <p:nvPicPr>
          <p:cNvPr id="4" name="Image 0" descr="../route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7217664" cy="5074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49184" y="1234440"/>
            <a:ext cx="3755136" cy="5074920"/>
          </a:xfrm>
          <a:prstGeom prst="roundRect">
            <a:avLst>
              <a:gd name="adj" fmla="val 1948"/>
            </a:avLst>
          </a:prstGeom>
          <a:solidFill>
            <a:srgbClr val="F5F6F8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3504" y="1463040"/>
            <a:ext cx="3206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이 순서인가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3504" y="1920240"/>
            <a:ext cx="3206496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캐슬(드래곤)과 시티는 루프의 정반대 끝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기존안은 이 둘을 3번 오갔음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 순서는 왕복을 1번(④)으로 압축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④만 대형 이동, 나머지는 전부 인접 구역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거리는 지도 기준 순서일 뿐 — 맵이 스케일을 보증 안 함(D등급)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37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74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레고랜드 코리아 · 2026-09-23(수) · 아빠+첫째(8세·130cm)+둘째(3세후반·101cm)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74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83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PARKING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주차 — PINK 도보, 실측 거리로 정정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5F6F8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실측 결과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283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약 450~500m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60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74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PINK 구역 → 입구, 직선거리 (사용자 제공 실제 지도, 축척 실측)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283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8~10분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611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74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도보 소요 추정 — 통설 “5분”보다 김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160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283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12,000원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663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74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왕복 주차 고정 요금(5시간 초과 시 일 최대, 그 이상 추가 없음)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371600"/>
            <a:ext cx="5532120" cy="4480560"/>
          </a:xfrm>
          <a:prstGeom prst="roundRect">
            <a:avLst>
              <a:gd name="adj" fmla="val 1633"/>
            </a:avLst>
          </a:prstGeom>
          <a:solidFill>
            <a:srgbClr val="FBF3F0"/>
          </a:solidFill>
          <a:ln w="12700">
            <a:solidFill>
              <a:srgbClr val="F0D9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283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갓길주차 — 검토했지만 비권장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01168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개인 승용차용 공식 정차 구역 없음 — 입구 앞 하차 구역은 대형버스·단체차량 전용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솔로 대디 특성상 “드롭오프 후 혼자 가서 주차” 방식 자체가 성립 안 함(아이 둘을 두고 갈 수 없음)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리조트 사유지 진입로라 단속 가능성 배제 못 함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411480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PINK로 걸어가되, 8~10분을 감안하고 셔틀(BLUE·YELLOW 중앙통로)을 백업으로 둔다.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74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레고랜드 코리아 · 2026-09-23(수) · 아빠+첫째(8세·130cm)+둘째(3세후반·101cm)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74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83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ATTRACTIONS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탈 어트랙션 9종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57600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490472"/>
            <a:ext cx="292608" cy="292608"/>
          </a:xfrm>
          <a:prstGeom prst="ellipse">
            <a:avLst/>
          </a:prstGeom>
          <a:solidFill>
            <a:srgbClr val="D6283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1792" y="1490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43560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드래곤 코스터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70992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6283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LEGO Castle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984248"/>
            <a:ext cx="332841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574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실내 다크라이드로 성 내부를 둘러보다 레드 드래곤과 마주치며 급강하·급발진. 526m·최고 56km/h, 번쩍이는 조명 연출. 100~120cm 보호자 동반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51960" y="1325880"/>
            <a:ext cx="3657600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16552" y="1490472"/>
            <a:ext cx="292608" cy="292608"/>
          </a:xfrm>
          <a:prstGeom prst="ellipse">
            <a:avLst/>
          </a:prstGeom>
          <a:solidFill>
            <a:srgbClr val="D6283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16552" y="1490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143560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Masters of Spinjitzu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170992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6283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NINJAGO World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416552" y="1984248"/>
            <a:ext cx="332841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574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닌자 원소의 힘을 깨워 즐기는 360도 스핀 액션. 핸들을 직접 돌려 회전 속도 조절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46720" y="1325880"/>
            <a:ext cx="3657600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11312" y="1490472"/>
            <a:ext cx="292608" cy="292608"/>
          </a:xfrm>
          <a:prstGeom prst="ellipse">
            <a:avLst/>
          </a:prstGeom>
          <a:solidFill>
            <a:srgbClr val="D6283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11312" y="1490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595360" y="143560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NINJAGO The Ride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595360" y="170992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6283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NINJAGO World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211312" y="1984248"/>
            <a:ext cx="332841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574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4D 라이드 — 손으로 불·얼음·번개·대지 파워를 쏘며 스크린 속 대모험. 총 쏘는 동작이라 8세가 좋아할 만함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008376"/>
            <a:ext cx="3657600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" y="3172968"/>
            <a:ext cx="292608" cy="292608"/>
          </a:xfrm>
          <a:prstGeom prst="ellipse">
            <a:avLst/>
          </a:prstGeom>
          <a:solidFill>
            <a:srgbClr val="D6283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21792" y="3172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311810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LEGOLAND Lookout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" y="339242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6283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Bricktopia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" y="3666744"/>
            <a:ext cx="332841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574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약 43m 높이 전망대. 파크 전체와 호수 조망. 스릴 없음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251960" y="3008376"/>
            <a:ext cx="3657600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16552" y="3172968"/>
            <a:ext cx="292608" cy="292608"/>
          </a:xfrm>
          <a:prstGeom prst="ellipse">
            <a:avLst/>
          </a:prstGeom>
          <a:solidFill>
            <a:srgbClr val="D6283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416552" y="3172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800600" y="311810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Monkey Climb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339242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6283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Bricktopia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416552" y="3666744"/>
            <a:ext cx="332841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574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그물 정글짐을 등반한 뒤 자유낙하로 하강. 반복 탑승하는 아이들 많음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046720" y="3008376"/>
            <a:ext cx="3657600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11312" y="3172968"/>
            <a:ext cx="292608" cy="292608"/>
          </a:xfrm>
          <a:prstGeom prst="ellipse">
            <a:avLst/>
          </a:prstGeom>
          <a:solidFill>
            <a:srgbClr val="D62839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211312" y="3172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8595360" y="311810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Wave Racers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595360" y="339242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6283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LEGO City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11312" y="3666744"/>
            <a:ext cx="332841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574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보트를 조종하며 파도와 물대포를 회피·명중. 확실히 젖음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4690872"/>
            <a:ext cx="3657600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1792" y="4855464"/>
            <a:ext cx="292608" cy="292608"/>
          </a:xfrm>
          <a:prstGeom prst="ellipse">
            <a:avLst/>
          </a:prstGeom>
          <a:solidFill>
            <a:srgbClr val="D62839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21792" y="4855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1005840" y="480060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Coast Guard Academy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1005840" y="507492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6283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LEGO City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621792" y="5349240"/>
            <a:ext cx="332841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574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해상 경비대 보트로 부둣가를 순찰하며 장애물 회피. Wave Racers보다 덜 젖음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251960" y="4690872"/>
            <a:ext cx="3657600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416552" y="4855464"/>
            <a:ext cx="292608" cy="292608"/>
          </a:xfrm>
          <a:prstGeom prst="ellipse">
            <a:avLst/>
          </a:prstGeom>
          <a:solidFill>
            <a:srgbClr val="D62839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4416552" y="4855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4800600" y="480060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Merlin's Flying Machines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4800600" y="507492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6283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LEGO Castle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4416552" y="5349240"/>
            <a:ext cx="332841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574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페달·핸들로 직접 힘을 줘 얼마나 높이 나는지 겨루는 라이드. 체력 소모 있음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046720" y="4690872"/>
            <a:ext cx="3657600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211312" y="4855464"/>
            <a:ext cx="292608" cy="292608"/>
          </a:xfrm>
          <a:prstGeom prst="ellipse">
            <a:avLst/>
          </a:prstGeom>
          <a:solidFill>
            <a:srgbClr val="D62839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8211312" y="4855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8595360" y="480060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LEGO Factory Adventure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8595360" y="507492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6283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Brick Street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8211312" y="5349240"/>
            <a:ext cx="332841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574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미니피겨 크기로 작아져 LEGO 생산 과정을 구경하는 다크라이드. 아시아 레고랜드 중 이 파크 전용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457200" y="6537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74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레고랜드 코리아 · 2026-09-23(수) · 아빠+첫째(8세·130cm)+둘째(3세후반·101cm)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74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83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CINEMA — CONFIRMED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영화 — Palace 4D Cinema, 앱 실측 화면으로 확정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BF3F0"/>
          </a:solidFill>
          <a:ln w="12700">
            <a:solidFill>
              <a:srgbClr val="F0D9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283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확인 — 오후에만 운영, 개장 직후엔 상영 안 함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1051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공식 홈페이지엔 고정 시간표가 없었지만, 레고랜드 공식 앱 화면을 직접 캡처해 확인한 결과 운영시간과 쇼타임이 명확했습니다. 이전 일정의 “13:40 상영” 배치는 오픈 전이라 불가능했던 것으로 정정합니다.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1A244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6060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C72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오후 2:30~5:00 운영 · 쇼타임 2:30 / 3:30 / 4:30 (30분 간격) — 공식 앱 화면 실측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2900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7589520"/>
                <a:gridCol w="128016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항목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내용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등급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4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상영작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LEGO® CITY 4D: Officer in Pursuit (한국어 ‘추격하는 경찰관!’)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6E6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내용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미니피겨 경찰이 범인을 쫓는 4D 코미디 액션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6E6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소요·좌석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약 10분 / 497석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62839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B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효과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대형 스크린 + 입체 사운드 + 물·바람·거품·인공눈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62839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B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운영시간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오후 2:30~5:00, 쇼타임 2:30/3:30/4:30 — 앱 화면 실측(오늘 기준)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6E6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변동 가능성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“현장 상황에 따라 예고 없이 중단·변동될 수 있음” — 앱 공식 문구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6E6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신장·나이 제한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없음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6E6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2:30 쇼에 맞춰 시티 구간을 14:25까지 늘리고, 캐슬 귀환·드래곤 2차를 그만큼 늦춥니다. 뒤 시간을 맞추려 Bricktopia의 Monkey Climb는 생략.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74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레고랜드 코리아 · 2026-09-23(수) · 아빠+첫째(8세·130cm)+둘째(3세후반·101cm)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74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83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STAMPS &amp; CHECKLIST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몬스터 랠리 스탬프 6곳 · 최종 체크리스트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몬스터 랠리 스탬프 6곳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486400" cy="411480"/>
          </a:xfrm>
          <a:prstGeom prst="roundRect">
            <a:avLst>
              <a:gd name="adj" fmla="val 13333"/>
            </a:avLst>
          </a:prstGeom>
          <a:solidFill>
            <a:srgbClr val="F5F6F8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828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드래곤 코스터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54864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3317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Masters of Spinjitzu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5486400" cy="411480"/>
          </a:xfrm>
          <a:prstGeom prst="roundRect">
            <a:avLst>
              <a:gd name="adj" fmla="val 13333"/>
            </a:avLst>
          </a:prstGeom>
          <a:solidFill>
            <a:srgbClr val="F5F6F8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834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NINJAGO The Ride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54864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3375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LEGOLAND Lookout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5486400" cy="411480"/>
          </a:xfrm>
          <a:prstGeom prst="roundRect">
            <a:avLst>
              <a:gd name="adj" fmla="val 13333"/>
            </a:avLst>
          </a:prstGeom>
          <a:solidFill>
            <a:srgbClr val="F5F6F8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840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⑤ 브릭토피아 라운지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343400"/>
            <a:ext cx="54864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4343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⑥ LEGO Factory Adventure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937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574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완주 시 몬스터 배지 + 젤리 수령 (16:20~16:45, Brick Street)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1371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현장에서 마지막으로 확인할 것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09360" y="182880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D6283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0" y="17830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PINK 구역 배정 가능 여부 (안내 요원에게 요청)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2395728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D6283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66560" y="235000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몬스터 랠리 전단 — 스탬프 6곳 정확한 목록 재확인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2962656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D6283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66560" y="291693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Palace 4D Cinema 14:30 쇼 — 앱에서 변동 여부 재확인(예고 없이 바뀔 수 있음)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3529584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D6283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66560" y="348386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드래곤 코스터 대기시간 — 10:05 첫 확인 후 몰아타기 지속 여부 판단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09360" y="4096512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D6283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66560" y="405079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웨건 셔틀 탑재 가능 여부(PINK 도보로 대체 시 불필요)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37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74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레고랜드 코리아 · 2026-09-23(수) · 아빠+첫째(8세·130cm)+둘째(3세후반·101cm)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74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83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CAUTIONS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4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주의점 — 오늘 계획의 위험 요소와 근거 등급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406640"/>
                <a:gridCol w="10972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항목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왜 주의해야 하나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등급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4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폐장 시간 빡빡함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16:55 퇴장 예정 — 영화를 넣느라 뒤 일정에 여유가 거의 없음. 늦어지면 Bricktopia부터 생략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C5749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—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영화 상영시간 변동 가능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앱 자체가 “예고 없이 중단·변동될 수 있음”이라 명시. 캡처는 방문 전날 밤 기준 스냅샷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6E6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드래곤 코스터 100~120cm 구간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보호자 동반 조건까지 공식 원문으로 재확인했지만, 최종 판단은 현장 신장 측정대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6E6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PINK 구역 배정 불확실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안내 요원에게 요청하는 사항이라 보장 안 됨 — 못 받으면 도보 8~10분보다 더 걸릴 수 있음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62839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B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구역 간 이동 시간은 전부 추정치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공식 파크맵이 “실제 스케일 아님”이라 명시 — 인접 3~5분, 대형 이동 12~15분은 순서 기반 추정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62839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D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몬스터 랠리 스탬프 목록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단일 언론 기사 기반, 2차 교차확인 못 함 — 전단으로 현장 재확인 권장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62839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B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일교차·젖는 라이드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4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최저 12℃~최고 29℃ + Wave Racers·Coast Guard·Cinema 모두 물 사용 — 겉옷·여벌옷 필수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6E6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</a:t>
                      </a:r>
                      <a:endParaRPr lang="en-US" sz="12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574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등급: A=공식 확인 · B=2차 자료 교차확인 · D=미확인(추정) · —=계획 설계상 리스크(사실 확인 대상 아님)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37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74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레고랜드 코리아 · 2026-09-23(수) · 아빠+첫째(8세·130cm)+둘째(3세후반·101cm)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74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2026-09-22T23:41:43Z</dcterms:created>
  <dcterms:modified xsi:type="dcterms:W3CDTF">2026-09-22T23:41:43Z</dcterms:modified>
</cp:coreProperties>
</file>